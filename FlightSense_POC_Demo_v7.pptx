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5" r:id="rId16"/>
    <p:sldId id="261" r:id="rId7"/>
    <p:sldId id="262" r:id="rId8"/>
    <p:sldId id="264" r:id="rId15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9E6D"/>
    <a:srgbClr val="89CE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-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8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4A6F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0" y="4389120"/>
            <a:ext cx="2743200" cy="2743200"/>
          </a:xfrm>
          <a:prstGeom prst="ellipse">
            <a:avLst/>
          </a:prstGeom>
          <a:solidFill>
            <a:srgbClr val="F7B73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FLIGHTSENSE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Flight Disruption Detection — Proof of Concept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548640" cy="41148"/>
          </a:xfrm>
          <a:prstGeom prst="rect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— Internal POC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FlightSense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flight is delayed or cancelled, airlines find out late — and passengers find out even later. Manual monitoring doesn't scale, and slow servicing erodes trust exactly when passengers need help most.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high-confidence, real-time detection of flight disruptions — and lay the foundation for agentic, automated passenger servicing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6362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95160" y="1463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disruptions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234086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9516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disruption intelligence at the PNR level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11810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9516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proactive automated servicing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389534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9516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+ AeroDataBox + OpenSky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3-source: AviationStack → AeroDataBox → OpenSky tiebreaker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 Haiku)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PNR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flights.json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Watchlist, diff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agent_bedrock.py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disruption→PNR→notify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8116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analytics,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8116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Polly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8116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"Emma" — CS voice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2376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7180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2376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AWS Bedrock  |  Data: AviationStack + AeroDataBox + OpenSky  |  Voice: Amazon Polly  |  UI: NiceGUI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Servicing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scheduled flights + generate synthetic PNRs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6616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904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 and diff vs. watchlist — flag real changes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affected passengers, generate notification, log event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354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1832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41832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Servicing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(LangGraph + Bedrock) offers refund / rebook / voucher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disrupted flight is marked processed=true once handled — never re-notified on the next cycle.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— PNR generation &amp; Emma's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+ AeroDataBox + OpenSky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 validation — AeroDataBox cross-check, OpenSky tiebreaker on conflict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 for the customer service call flow, incl. human-agent escalation on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Polly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text-to-speech for Emma's voice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NiceGUI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analytics &amp; log (mic input in NiceGUI)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6676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6676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loop, diffing, and event logging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— Current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visibility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5636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5636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with available sources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PNR-level disruption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1579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89CEB1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0" y="21579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</a:t>
            </a:r>
            <a:r>
              <a:rPr lang="en-US" sz="1200" b="1" dirty="0">
                <a:solidFill>
                  <a:srgbClr val="2C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automated servicing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7523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89CEB1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0" y="27523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200" dirty="0">
              <a:solidFill>
                <a:srgbClr val="2C9E6D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3346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source (OAG)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394106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89520" y="3941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using AviationStack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95–98% detection accuracy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45354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0" y="45354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within 5 minutes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51297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5129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validation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57241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89CEB1">
              <a:alpha val="12157"/>
            </a:srgbClr>
          </a:solidFill>
          <a:ln w="12700">
            <a:solidFill>
              <a:srgbClr val="2E9E6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89520" y="57241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— 3-source pipeline live (AviationStack → AeroDataBox → OpenSky)</a:t>
            </a:r>
            <a:endParaRPr lang="en-US" sz="1200" dirty="0">
              <a:solidFill>
                <a:srgbClr val="2C9E6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7B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paid production source (OAG/FlightAware) — AeroDataBox + OpenSky tiebreaker already live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TLR, Opus, ROC for full multi-source disruption confidence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9169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accuracy harness — validate the 95–98% detection target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5753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Python-orchestrated to true agent-driven tool selection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233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real PNR data access with stakeholders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detection to a live 5-minute production schedule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6FA5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FlightSense — Real-Time Flight Disruption Detection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Section label -->
      <p:sp>
        <p:nvSpPr>
          <p:cNvPr id="2" name="Label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7B733"/>
                </a:solidFill>
                <a:latin typeface="Calibri" pitchFamily="34" charset="0"/>
              </a:rPr>
              <a:t>DEPLOYMENT &amp; AUDIENCE</a:t>
            </a:r>
          </a:p>
        </p:txBody>
      </p:sp>
      <!-- Slide title -->
      <p:sp>
        <p:nvSpPr>
          <p:cNvPr id="3" name="Title"/>
          <p:cNvSpPr/>
          <p:nvPr/>
        </p:nvSpPr>
        <p:spPr>
          <a:xfrm>
            <a:off x="640080" y="685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</a:rPr>
              <a:t>Who It's For — and Where It Goes Next</a:t>
            </a:r>
          </a:p>
        </p:txBody>
      </p:sp>
      <!-- LEFT COLUMN: AWS Deployment heading background -->
      <p:sp>
        <p:nvSpPr>
          <p:cNvPr id="4" name="LeftHeadBg"/>
          <p:cNvSpPr/>
          <p:nvPr/>
        </p:nvSpPr>
        <p:spPr>
          <a:xfrm>
            <a:off x="640080" y="1371600"/>
            <a:ext cx="5029200" cy="457200"/>
          </a:xfrm>
          <a:prstGeom prst="roundRect">
            <a:avLst>
              <a:gd name="adj" fmla="val 8000"/>
            </a:avLst>
          </a:prstGeom>
          <a:solidFill>
            <a:srgbClr val="F7B733"/>
          </a:solidFill>
          <a:ln/>
        </p:spPr>
        <p:txBody>
          <a:bodyPr/>
          <a:lstStyle/>
          <a:p>
            <a:endParaRPr lang="en-US"/>
          </a:p>
        </p:txBody>
      </p:sp>
      <!-- LEFT COLUMN: AWS Deployment heading text -->
      <p:sp>
        <p:nvSpPr>
          <p:cNvPr id="5" name="LeftHead"/>
          <p:cNvSpPr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</a:rPr>
              <a:t>☁  AWS Production Path</a:t>
            </a:r>
          </a:p>
        </p:txBody>
      </p:sp>
      <!-- LEFT COLUMN: AWS content -->
      <p:sp>
        <p:nvSpPr>
          <p:cNvPr id="6" name="LeftBody"/>
          <p:cNvSpPr/>
          <p:nvPr/>
        </p:nvSpPr>
        <p:spPr>
          <a:xfrm>
            <a:off x="640080" y="1920240"/>
            <a:ext cx="5029200" cy="4206240"/>
          </a:xfrm>
          <a:prstGeom prst="rect">
            <a:avLst/>
          </a:prstGeom>
          <a:solidFill>
            <a:srgbClr val="162050"/>
          </a:solidFill>
          <a:ln/>
        </p:spPr>
        <p:txBody>
          <a:bodyPr wrap="square" rtlCol="0" anchor="t" lIns="182880" rIns="182880" tIns="182880" bIns="182880"/>
          <a:lstStyle/>
          <a:p>
            <a:pPr marL="0" indent="0">
              <a:buNone/>
            </a:pPr>
            <a:r>
              <a:rPr lang="en-US" sz="1150" b="1" dirty="0">
                <a:solidFill>
                  <a:srgbClr val="F7B733"/>
                </a:solidFill>
                <a:latin typeface="Calibri" pitchFamily="34" charset="0"/>
              </a:rPr>
              <a:t>Why localhost for now?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POC scope — avoids infrastructure overhead while validating the concept.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 xml:space="preserve"> 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F7B733"/>
                </a:solidFill>
                <a:latin typeface="Calibri" pitchFamily="34" charset="0"/>
              </a:rPr>
              <a:t>Production deployment path</a:t>
            </a:r>
          </a:p>
          <a:p>
            <a:pPr marL="182880" indent="0">
              <a:buChar char="▸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EC2 or ECS (Docker container) for the Python app</a:t>
            </a:r>
          </a:p>
          <a:p>
            <a:pPr marL="182880" indent="0">
              <a:buChar char="▸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Application Load Balancer (ALB) for HTTPS</a:t>
            </a:r>
          </a:p>
          <a:p>
            <a:pPr marL="182880" indent="0">
              <a:buChar char="▸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Cognito or SSO for auth (corporate identity)</a:t>
            </a:r>
          </a:p>
          <a:p>
            <a:pPr marL="182880" indent="0">
              <a:buChar char="▸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Bedrock + Polly already AWS — no new services needed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 xml:space="preserve"> 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F7B733"/>
                </a:solidFill>
                <a:latin typeface="Calibri" pitchFamily="34" charset="0"/>
              </a:rPr>
              <a:t>Estimated lift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~1 day to containerise + deploy on AWS from current codebase.</a:t>
            </a:r>
          </a:p>
        </p:txBody>
      </p:sp>
      <!-- RIGHT COLUMN: Audience heading background -->
      <p:sp>
        <p:nvSpPr>
          <p:cNvPr id="7" name="RightHeadBg"/>
          <p:cNvSpPr/>
          <p:nvPr/>
        </p:nvSpPr>
        <p:spPr>
          <a:xfrm>
            <a:off x="5852880" y="1371600"/>
            <a:ext cx="5029200" cy="4572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!-- RIGHT COLUMN: Audience heading text -->
      <p:sp>
        <p:nvSpPr>
          <p:cNvPr id="8" name="RightHead"/>
          <p:cNvSpPr/>
          <p:nvPr/>
        </p:nvSpPr>
        <p:spPr>
          <a:xfrm>
            <a:off x="585288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</a:rPr>
              <a:t>👤  Who Is This For?</a:t>
            </a:r>
          </a:p>
        </p:txBody>
      </p:sp>
      <!-- RIGHT COLUMN: Audience content -->
      <p:sp>
        <p:nvSpPr>
          <p:cNvPr id="9" name="RightBody"/>
          <p:cNvSpPr/>
          <p:nvPr/>
        </p:nvSpPr>
        <p:spPr>
          <a:xfrm>
            <a:off x="5852880" y="1920240"/>
            <a:ext cx="5029200" cy="4206240"/>
          </a:xfrm>
          <a:prstGeom prst="rect">
            <a:avLst/>
          </a:prstGeom>
          <a:solidFill>
            <a:srgbClr val="162050"/>
          </a:solidFill>
          <a:ln/>
        </p:spPr>
        <p:txBody>
          <a:bodyPr wrap="square" rtlCol="0" anchor="t" lIns="182880" rIns="182880" tIns="182880" bIns="182880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</a:rPr>
              <a:t>Open-ended by design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The POC is not scoped to one persona. It can be tailored per clear spec &amp; requirements.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 xml:space="preserve"> 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</a:rPr>
              <a:t>Potential personas</a:t>
            </a:r>
          </a:p>
          <a:p>
            <a:pPr marL="182880" indent="0">
              <a:buChar char="▸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Airline CS agent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 xml:space="preserve"> — proactive outreach to affected passengers</a:t>
            </a:r>
          </a:p>
          <a:p>
            <a:pPr marL="182880" indent="0">
              <a:buChar char="▸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Travel agency ops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 xml:space="preserve"> — monitor client bookings in real time</a:t>
            </a:r>
          </a:p>
          <a:p>
            <a:pPr marL="182880" indent="0">
              <a:buChar char="▸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Passenger self-service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 xml:space="preserve"> — chat with Emma directly to rebook / claim</a:t>
            </a:r>
          </a:p>
          <a:p>
            <a:pPr marL="182880" indent="0">
              <a:buChar char="▸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Airport operations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 xml:space="preserve"> — disruption intelligence for ground teams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 xml:space="preserve"> 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F7B733"/>
                </a:solidFill>
                <a:latin typeface="Calibri" pitchFamily="34" charset="0"/>
              </a:rPr>
              <a:t>Scope can be narrowed to a single persona once requirements are confirmed with stakeholders.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LangGraph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Section label -->
      <p:sp>
        <p:nvSpPr>
          <p:cNvPr id="2" name="Label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7B733"/>
                </a:solidFill>
                <a:latin typeface="Calibri" pitchFamily="34" charset="0"/>
              </a:rPr>
              <a:t>ARCHITECTURE DECISION</a:t>
            </a:r>
          </a:p>
        </p:txBody>
      </p:sp>
      <!-- Title -->
      <p:sp>
        <p:nvSpPr>
          <p:cNvPr id="3" name="Title"/>
          <p:cNvSpPr/>
          <p:nvPr/>
        </p:nvSpPr>
        <p:spPr>
          <a:xfrm>
            <a:off x="640080" y="685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</a:rPr>
              <a:t>Why LangGraph — Not Just a POC Choice</a:t>
            </a:r>
          </a:p>
        </p:txBody>
      </p:sp>
      <!-- ── Card 1: Non-linear flows ── -->
      <p:sp>
        <p:nvSpPr>
          <p:cNvPr id="10" name="C1Bg"/>
          <p:cNvSpPr/>
          <p:nvPr/>
        </p:nvSpPr>
        <p:spPr>
          <a:xfrm>
            <a:off x="640080" y="1371600"/>
            <a:ext cx="2560320" cy="4755960"/>
          </a:xfrm>
          <a:prstGeom prst="roundRect">
            <a:avLst>
              <a:gd name="adj" fmla="val 5000"/>
            </a:avLst>
          </a:prstGeom>
          <a:solidFill>
            <a:srgbClr val="162050"/>
          </a:solidFill>
          <a:ln>
            <a:solidFill>
              <a:srgbClr val="F7B7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1Text"/>
          <p:cNvSpPr/>
          <p:nvPr/>
        </p:nvSpPr>
        <p:spPr>
          <a:xfrm>
            <a:off x="640080" y="1371600"/>
            <a:ext cx="2560320" cy="4755960"/>
          </a:xfrm>
          <a:prstGeom prst="rect">
            <a:avLst/>
          </a:prstGeom>
          <a:noFill/>
          <a:ln/>
        </p:spPr>
        <p:txBody>
          <a:bodyPr wrap="square" rtlCol="0" anchor="t" lIns="182880" rIns="182880" tIns="228600" bIns="182880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7B733"/>
                </a:solidFill>
                <a:latin typeface="Calibri" pitchFamily="34" charset="0"/>
              </a:rPr>
              <a:t>🔀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Non-linear Flows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 xml:space="preserve">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</a:rPr>
              <a:t>Real passengers interrupt, loop back, change their mind. Graph edges handle branching and retries — an if/elif chain doesn't scale.</a:t>
            </a:r>
          </a:p>
        </p:txBody>
      </p:sp>
      <!-- ── Card 2: Human-in-the-loop ── -->
      <p:sp>
        <p:nvSpPr>
          <p:cNvPr id="20" name="C2Bg"/>
          <p:cNvSpPr/>
          <p:nvPr/>
        </p:nvSpPr>
        <p:spPr>
          <a:xfrm>
            <a:off x="3429720" y="1371600"/>
            <a:ext cx="2560320" cy="4755960"/>
          </a:xfrm>
          <a:prstGeom prst="roundRect">
            <a:avLst>
              <a:gd name="adj" fmla="val 5000"/>
            </a:avLst>
          </a:prstGeom>
          <a:solidFill>
            <a:srgbClr val="162050"/>
          </a:solidFill>
          <a:ln>
            <a:solidFill>
              <a:srgbClr val="02C3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2Text"/>
          <p:cNvSpPr/>
          <p:nvPr/>
        </p:nvSpPr>
        <p:spPr>
          <a:xfrm>
            <a:off x="3429720" y="1371600"/>
            <a:ext cx="2560320" cy="4755960"/>
          </a:xfrm>
          <a:prstGeom prst="rect">
            <a:avLst/>
          </a:prstGeom>
          <a:noFill/>
          <a:ln/>
        </p:spPr>
        <p:txBody>
          <a:bodyPr wrap="square" rtlCol="0" anchor="t" lIns="182880" rIns="182880" tIns="228600" bIns="182880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</a:rPr>
              <a:t>🧑‍💼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Human-in-the-Loop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 xml:space="preserve">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</a:rPr>
              <a:t>Supervisor approval and passenger-requested handoff are first-class LangGraph features (interrupt_before / interrupt_after) — already live in this POC.</a:t>
            </a:r>
          </a:p>
        </p:txBody>
      </p:sp>
      <!-- ── Card 3: Parallel execution ── -->
      <p:sp>
        <p:nvSpPr>
          <p:cNvPr id="30" name="C3Bg"/>
          <p:cNvSpPr/>
          <p:nvPr/>
        </p:nvSpPr>
        <p:spPr>
          <a:xfrm>
            <a:off x="6219360" y="1371600"/>
            <a:ext cx="2560320" cy="4755960"/>
          </a:xfrm>
          <a:prstGeom prst="roundRect">
            <a:avLst>
              <a:gd name="adj" fmla="val 5000"/>
            </a:avLst>
          </a:prstGeom>
          <a:solidFill>
            <a:srgbClr val="162050"/>
          </a:solidFill>
          <a:ln>
            <a:solidFill>
              <a:srgbClr val="F7B7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3Text"/>
          <p:cNvSpPr/>
          <p:nvPr/>
        </p:nvSpPr>
        <p:spPr>
          <a:xfrm>
            <a:off x="6219360" y="1371600"/>
            <a:ext cx="2560320" cy="4755960"/>
          </a:xfrm>
          <a:prstGeom prst="rect">
            <a:avLst/>
          </a:prstGeom>
          <a:noFill/>
          <a:ln/>
        </p:spPr>
        <p:txBody>
          <a:bodyPr wrap="square" rtlCol="0" anchor="t" lIns="182880" rIns="182880" tIns="228600" bIns="182880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7B733"/>
                </a:solidFill>
                <a:latin typeface="Calibri" pitchFamily="34" charset="0"/>
              </a:rPr>
              <a:t>⚡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Parallel Execution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 xml:space="preserve">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</a:rPr>
              <a:t>In production, Emma needs to check PNR, query rebooking availability, and verify hotel inventory simultaneously. LangGraph fan-out nodes handle this natively.</a:t>
            </a:r>
          </a:p>
        </p:txBody>
      </p:sp>
      <!-- ── Card 4: Observability ── -->
      <p:sp>
        <p:nvSpPr>
          <p:cNvPr id="40" name="C4Bg"/>
          <p:cNvSpPr/>
          <p:nvPr/>
        </p:nvSpPr>
        <p:spPr>
          <a:xfrm>
            <a:off x="9009000" y="1371600"/>
            <a:ext cx="2560320" cy="4755960"/>
          </a:xfrm>
          <a:prstGeom prst="roundRect">
            <a:avLst>
              <a:gd name="adj" fmla="val 5000"/>
            </a:avLst>
          </a:prstGeom>
          <a:solidFill>
            <a:srgbClr val="162050"/>
          </a:solidFill>
          <a:ln>
            <a:solidFill>
              <a:srgbClr val="02C3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4Text"/>
          <p:cNvSpPr/>
          <p:nvPr/>
        </p:nvSpPr>
        <p:spPr>
          <a:xfrm>
            <a:off x="9009000" y="1371600"/>
            <a:ext cx="2560320" cy="4755960"/>
          </a:xfrm>
          <a:prstGeom prst="rect">
            <a:avLst/>
          </a:prstGeom>
          <a:noFill/>
          <a:ln/>
        </p:spPr>
        <p:txBody>
          <a:bodyPr wrap="square" rtlCol="0" anchor="t" lIns="182880" rIns="182880" tIns="228600" bIns="182880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</a:rPr>
              <a:t>🔍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Audit Trail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 xml:space="preserve">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</a:rPr>
              <a:t>Full graph trace of every state transition — critical for CS audit and compliance. Why did passenger X get outcome Y? LangGraph answers this out of the box.</a:t>
            </a:r>
          </a:p>
        </p:txBody>
      </p:sp>
      <!-- AWS alignment footer bar -->
      <p:sp>
        <p:nvSpPr>
          <p:cNvPr id="50" name="AWSBarBg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131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AWSBarText"/>
          <p:cNvSpPr/>
          <p:nvPr/>
        </p:nvSpPr>
        <p:spPr>
          <a:xfrm>
            <a:off x="640080" y="6172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B733"/>
                </a:solidFill>
                <a:latin typeface="Calibri" pitchFamily="34" charset="0"/>
              </a:rPr>
              <a:t>AWS alignment: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</a:rPr>
              <a:t>LangGraph is the recommended orchestration framework for AWS Bedrock multi-step agentic workloads — the exact pattern FlightSense uses. Keeping it means zero re-architecture when moving to production on AWS.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492</Words>
  <Application>Microsoft Macintosh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Dilara Aziz</cp:lastModifiedBy>
  <cp:revision>5</cp:revision>
  <dcterms:created xsi:type="dcterms:W3CDTF">2026-07-31T23:37:46Z</dcterms:created>
  <dcterms:modified xsi:type="dcterms:W3CDTF">2026-08-12T17:49:58Z</dcterms:modified>
</cp:coreProperties>
</file>