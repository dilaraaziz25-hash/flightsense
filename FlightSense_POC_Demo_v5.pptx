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C9E6D"/>
    <a:srgbClr val="89CEB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8" d="100"/>
          <a:sy n="118" d="100"/>
        </p:scale>
        <p:origin x="38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2484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097280"/>
            <a:ext cx="4114800" cy="4114800"/>
          </a:xfrm>
          <a:prstGeom prst="ellipse">
            <a:avLst/>
          </a:prstGeom>
          <a:solidFill>
            <a:srgbClr val="4A6FA5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972800" y="4389120"/>
            <a:ext cx="2743200" cy="2743200"/>
          </a:xfrm>
          <a:prstGeom prst="ellipse">
            <a:avLst/>
          </a:prstGeom>
          <a:solidFill>
            <a:srgbClr val="F7B733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31520" y="233172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kern="0" spc="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FLIGHTSENSE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31520" y="320040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Flight Disruption Detection — Proof of Concept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31520" y="3977640"/>
            <a:ext cx="548640" cy="41148"/>
          </a:xfrm>
          <a:prstGeom prst="rect">
            <a:avLst/>
          </a:prstGeom>
          <a:solidFill>
            <a:srgbClr val="F7B7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31520" y="4160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AA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Infosys — Internal POC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FlightSense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54864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flight is delayed or cancelled, airlines find out late — and passengers find out even later. Manual monitoring doesn't scale, and slow servicing erodes trust exactly when passengers need help most.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32461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3657600"/>
            <a:ext cx="5486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high-confidence, real-time detection of flight disruptions — and lay the foundation for agentic, automated passenger servicing decisions.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537960" y="1563624"/>
            <a:ext cx="256032" cy="256032"/>
          </a:xfrm>
          <a:prstGeom prst="ellipse">
            <a:avLst/>
          </a:prstGeom>
          <a:solidFill>
            <a:srgbClr val="F7B7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995160" y="146304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visibility into disruptions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537960" y="2340864"/>
            <a:ext cx="256032" cy="256032"/>
          </a:xfrm>
          <a:prstGeom prst="ellipse">
            <a:avLst/>
          </a:prstGeom>
          <a:solidFill>
            <a:srgbClr val="F7B7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995160" y="224028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Centralised disruption intelligence at the PNR level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537960" y="3118104"/>
            <a:ext cx="256032" cy="256032"/>
          </a:xfrm>
          <a:prstGeom prst="ellipse">
            <a:avLst/>
          </a:prstGeom>
          <a:solidFill>
            <a:srgbClr val="F7B7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995160" y="301752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for proactive automated servicing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537960" y="3895344"/>
            <a:ext cx="256032" cy="256032"/>
          </a:xfrm>
          <a:prstGeom prst="ellipse">
            <a:avLst/>
          </a:prstGeom>
          <a:solidFill>
            <a:srgbClr val="F7B7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995160" y="379476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Scalable, agent-driven architecture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Overview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23317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9050">
            <a:solidFill>
              <a:srgbClr val="4A6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77240" y="155448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AviationStack + AeroDataBox + OpenSky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777240" y="192024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3-source: AviationStack → AeroDataBox → OpenSky tiebreaker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3191256"/>
            <a:ext cx="23317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9050">
            <a:solidFill>
              <a:srgbClr val="F7B7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77240" y="3282696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 (Claude Haiku)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77240" y="3648456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PNR generation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892040" y="1463040"/>
            <a:ext cx="23317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9050">
            <a:solidFill>
              <a:srgbClr val="4A6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29200" y="155448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flights.json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029200" y="192024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Watchlist, diff detection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892040" y="3191256"/>
            <a:ext cx="23317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9050">
            <a:solidFill>
              <a:srgbClr val="F7B7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029200" y="3282696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agent_bedrock.py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029200" y="3648456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Orchestrates disruption→PNR→notify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9144000" y="1463040"/>
            <a:ext cx="23317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9050">
            <a:solidFill>
              <a:srgbClr val="4A6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281160" y="155448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/ NiceGUI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9281160" y="192024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Monitor, passengers, analytics, log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9144000" y="3191256"/>
            <a:ext cx="23317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9050">
            <a:solidFill>
              <a:srgbClr val="F7B7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9281160" y="3282696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+ Polly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9281160" y="3648456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"Emma" — CS voice agent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971800" y="1897380"/>
            <a:ext cx="1920240" cy="0"/>
          </a:xfrm>
          <a:prstGeom prst="line">
            <a:avLst/>
          </a:prstGeom>
          <a:noFill/>
          <a:ln w="19050">
            <a:solidFill>
              <a:srgbClr val="4A6FA5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7223760" y="1897380"/>
            <a:ext cx="1920240" cy="0"/>
          </a:xfrm>
          <a:prstGeom prst="line">
            <a:avLst/>
          </a:prstGeom>
          <a:noFill/>
          <a:ln w="19050">
            <a:solidFill>
              <a:srgbClr val="4A6FA5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2971800" y="3625596"/>
            <a:ext cx="1920240" cy="0"/>
          </a:xfrm>
          <a:prstGeom prst="line">
            <a:avLst/>
          </a:prstGeom>
          <a:noFill/>
          <a:ln w="19050">
            <a:solidFill>
              <a:srgbClr val="4A6FA5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7223760" y="3625596"/>
            <a:ext cx="1920240" cy="0"/>
          </a:xfrm>
          <a:prstGeom prst="line">
            <a:avLst/>
          </a:prstGeom>
          <a:noFill/>
          <a:ln w="19050">
            <a:solidFill>
              <a:srgbClr val="4A6FA5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40080" y="6172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Platform: AWS Bedrock  |  Data: AviationStack + AeroDataBox + OpenSky  |  Voice: Amazon Polly  |  UI: NiceGUI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Detection &amp; Servicing Flow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2194560"/>
            <a:ext cx="2606040" cy="2377440"/>
          </a:xfrm>
          <a:prstGeom prst="roundRect">
            <a:avLst>
              <a:gd name="adj" fmla="val 3077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" y="2359152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7B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914400" y="310896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Fetch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3566160"/>
            <a:ext cx="2240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scheduled flights + generate synthetic PNRs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355848" y="3383280"/>
            <a:ext cx="192024" cy="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566160" y="2194560"/>
            <a:ext cx="2606040" cy="2377440"/>
          </a:xfrm>
          <a:prstGeom prst="roundRect">
            <a:avLst>
              <a:gd name="adj" fmla="val 3077"/>
            </a:avLst>
          </a:prstGeom>
          <a:solidFill>
            <a:srgbClr val="4A6F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749040" y="2359152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7B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3749040" y="310896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Periodic Recheck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749040" y="3566160"/>
            <a:ext cx="2240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Re-fetch and diff vs. watchlist — flag real changes only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190488" y="3383280"/>
            <a:ext cx="192024" cy="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400800" y="2194560"/>
            <a:ext cx="2606040" cy="2377440"/>
          </a:xfrm>
          <a:prstGeom prst="roundRect">
            <a:avLst>
              <a:gd name="adj" fmla="val 3077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583680" y="2359152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7B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6583680" y="310896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Disruption Handling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583680" y="3566160"/>
            <a:ext cx="2240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affected passengers, generate notification, log event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9025128" y="3383280"/>
            <a:ext cx="192024" cy="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9235440" y="2194560"/>
            <a:ext cx="2606040" cy="2377440"/>
          </a:xfrm>
          <a:prstGeom prst="roundRect">
            <a:avLst>
              <a:gd name="adj" fmla="val 3077"/>
            </a:avLst>
          </a:prstGeom>
          <a:solidFill>
            <a:srgbClr val="4A6F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9418320" y="2359152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7B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400" dirty="0"/>
          </a:p>
        </p:txBody>
      </p:sp>
      <p:sp>
        <p:nvSpPr>
          <p:cNvPr id="21" name="Text 19"/>
          <p:cNvSpPr/>
          <p:nvPr/>
        </p:nvSpPr>
        <p:spPr>
          <a:xfrm>
            <a:off x="9418320" y="310896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Passenger Servicing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418320" y="3566160"/>
            <a:ext cx="2240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Emma (LangGraph + Bedrock) offers refund / rebook / voucher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731520" y="48920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disrupted flight is marked processed=true once handled — never re-notified on the next cycle.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USED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342900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68680" y="1737360"/>
            <a:ext cx="365760" cy="365760"/>
          </a:xfrm>
          <a:prstGeom prst="ellipse">
            <a:avLst/>
          </a:prstGeom>
          <a:solidFill>
            <a:srgbClr val="F7B7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68680" y="224028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Bedrock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68680" y="2624328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Haiku — PNR generation &amp; Emma's responses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1508760"/>
            <a:ext cx="342900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617720" y="1737360"/>
            <a:ext cx="365760" cy="365760"/>
          </a:xfrm>
          <a:prstGeom prst="ellipse">
            <a:avLst/>
          </a:prstGeom>
          <a:solidFill>
            <a:srgbClr val="F7B7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617720" y="224028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AviationStack + AeroDataBox + OpenSky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617720" y="2624328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3-source validation — AeroDataBox cross-check, OpenSky tiebreaker on conflict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138160" y="1508760"/>
            <a:ext cx="342900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8366760" y="1737360"/>
            <a:ext cx="365760" cy="365760"/>
          </a:xfrm>
          <a:prstGeom prst="ellipse">
            <a:avLst/>
          </a:prstGeom>
          <a:solidFill>
            <a:srgbClr val="F7B7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366760" y="224028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366760" y="2624328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State-machine orchestration for the customer service call flow, incl. human-agent escalation on request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3520440"/>
            <a:ext cx="342900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68680" y="3749040"/>
            <a:ext cx="365760" cy="365760"/>
          </a:xfrm>
          <a:prstGeom prst="ellipse">
            <a:avLst/>
          </a:prstGeom>
          <a:solidFill>
            <a:srgbClr val="F7B7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68680" y="425196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Polly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68680" y="4636008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text-to-speech for Emma's voice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389120" y="3520440"/>
            <a:ext cx="342900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617720" y="3749040"/>
            <a:ext cx="365760" cy="365760"/>
          </a:xfrm>
          <a:prstGeom prst="ellipse">
            <a:avLst/>
          </a:prstGeom>
          <a:solidFill>
            <a:srgbClr val="F7B7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617720" y="425196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/ NiceGUI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617720" y="4636008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Monitor, passengers, analytics &amp; log (mic input in NiceGUI)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138160" y="3520440"/>
            <a:ext cx="342900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8366760" y="3749040"/>
            <a:ext cx="365760" cy="365760"/>
          </a:xfrm>
          <a:prstGeom prst="ellipse">
            <a:avLst/>
          </a:prstGeom>
          <a:solidFill>
            <a:srgbClr val="F7B7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8366760" y="425196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366760" y="4636008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loop, diffing, and event logging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STAND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Success Criteria — Current Status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6675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disruption visibility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589520" y="1563624"/>
            <a:ext cx="3931920" cy="438912"/>
          </a:xfrm>
          <a:prstGeom prst="roundRect">
            <a:avLst>
              <a:gd name="adj" fmla="val 12500"/>
            </a:avLst>
          </a:prstGeom>
          <a:solidFill>
            <a:srgbClr val="D98C0F">
              <a:alpha val="12000"/>
            </a:srgbClr>
          </a:solidFill>
          <a:ln w="12700">
            <a:solidFill>
              <a:srgbClr val="D98C0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589520" y="1563624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98C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103120"/>
            <a:ext cx="6675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PNR-level disruption intelligence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589520" y="2157984"/>
            <a:ext cx="3931920" cy="438912"/>
          </a:xfrm>
          <a:prstGeom prst="roundRect">
            <a:avLst>
              <a:gd name="adj" fmla="val 12500"/>
            </a:avLst>
          </a:prstGeom>
          <a:solidFill>
            <a:srgbClr val="89CEB1">
              <a:alpha val="12000"/>
            </a:srgbClr>
          </a:solidFill>
          <a:ln w="12700">
            <a:solidFill>
              <a:srgbClr val="2E9E6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589520" y="2157984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9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 (</a:t>
            </a:r>
            <a:r>
              <a:rPr lang="en-US" sz="1200" b="1" dirty="0">
                <a:solidFill>
                  <a:srgbClr val="2C9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</a:t>
            </a:r>
            <a:r>
              <a:rPr lang="en-US" sz="1200" b="1" dirty="0">
                <a:solidFill>
                  <a:srgbClr val="2E9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data)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2697480"/>
            <a:ext cx="6675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for automated servicing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589520" y="2752344"/>
            <a:ext cx="3931920" cy="438912"/>
          </a:xfrm>
          <a:prstGeom prst="roundRect">
            <a:avLst>
              <a:gd name="adj" fmla="val 12500"/>
            </a:avLst>
          </a:prstGeom>
          <a:solidFill>
            <a:srgbClr val="89CEB1">
              <a:alpha val="12000"/>
            </a:srgbClr>
          </a:solidFill>
          <a:ln w="12700">
            <a:solidFill>
              <a:srgbClr val="2E9E6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589520" y="2752344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C9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</a:t>
            </a:r>
            <a:endParaRPr lang="en-US" sz="1200" dirty="0">
              <a:solidFill>
                <a:srgbClr val="2C9E6D"/>
              </a:solidFill>
            </a:endParaRPr>
          </a:p>
        </p:txBody>
      </p:sp>
      <p:sp>
        <p:nvSpPr>
          <p:cNvPr id="13" name="Text 11"/>
          <p:cNvSpPr/>
          <p:nvPr/>
        </p:nvSpPr>
        <p:spPr>
          <a:xfrm>
            <a:off x="640080" y="3291840"/>
            <a:ext cx="6675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Scalable, agent-driven architecture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589520" y="3346704"/>
            <a:ext cx="3931920" cy="438912"/>
          </a:xfrm>
          <a:prstGeom prst="roundRect">
            <a:avLst>
              <a:gd name="adj" fmla="val 12500"/>
            </a:avLst>
          </a:prstGeom>
          <a:solidFill>
            <a:srgbClr val="D98C0F">
              <a:alpha val="12000"/>
            </a:srgbClr>
          </a:solidFill>
          <a:ln w="12700">
            <a:solidFill>
              <a:srgbClr val="D98C0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589520" y="3346704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98C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3886200"/>
            <a:ext cx="6675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High-confidence source (OAG)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589520" y="3941064"/>
            <a:ext cx="3931920" cy="438912"/>
          </a:xfrm>
          <a:prstGeom prst="roundRect">
            <a:avLst>
              <a:gd name="adj" fmla="val 12500"/>
            </a:avLst>
          </a:prstGeom>
          <a:solidFill>
            <a:srgbClr val="C64F4F">
              <a:alpha val="12000"/>
            </a:srgbClr>
          </a:solidFill>
          <a:ln w="12700">
            <a:solidFill>
              <a:srgbClr val="C64F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589520" y="3941064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6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— using AviationStack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0080" y="4480560"/>
            <a:ext cx="6675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95–98% detection accuracy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589520" y="4535424"/>
            <a:ext cx="3931920" cy="438912"/>
          </a:xfrm>
          <a:prstGeom prst="roundRect">
            <a:avLst>
              <a:gd name="adj" fmla="val 12500"/>
            </a:avLst>
          </a:prstGeom>
          <a:solidFill>
            <a:srgbClr val="C64F4F">
              <a:alpha val="12000"/>
            </a:srgbClr>
          </a:solidFill>
          <a:ln w="12700">
            <a:solidFill>
              <a:srgbClr val="C64F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589520" y="4535424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6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yet measured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0080" y="5074920"/>
            <a:ext cx="6675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within 5 minutes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589520" y="5129784"/>
            <a:ext cx="3931920" cy="438912"/>
          </a:xfrm>
          <a:prstGeom prst="roundRect">
            <a:avLst>
              <a:gd name="adj" fmla="val 12500"/>
            </a:avLst>
          </a:prstGeom>
          <a:solidFill>
            <a:srgbClr val="D98C0F">
              <a:alpha val="12000"/>
            </a:srgbClr>
          </a:solidFill>
          <a:ln w="12700">
            <a:solidFill>
              <a:srgbClr val="D98C0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589520" y="5129784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98C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supports it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0080" y="5669280"/>
            <a:ext cx="6675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Multi-source validation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7589520" y="5724144"/>
            <a:ext cx="3931920" cy="438912"/>
          </a:xfrm>
          <a:prstGeom prst="roundRect">
            <a:avLst>
              <a:gd name="adj" fmla="val 12500"/>
            </a:avLst>
          </a:prstGeom>
          <a:solidFill>
            <a:srgbClr val="89CEB1">
              <a:alpha val="12157"/>
            </a:srgbClr>
          </a:solidFill>
          <a:ln w="12700">
            <a:solidFill>
              <a:srgbClr val="2E9E6D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7589520" y="5724144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C9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 — 3-source pipeline live (AviationStack → AeroDataBox → OpenSky)</a:t>
            </a:r>
            <a:endParaRPr lang="en-US" sz="1200" dirty="0">
              <a:solidFill>
                <a:srgbClr val="2C9E6D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F7B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POC to Production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60020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F7B7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1600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417320" y="1572768"/>
            <a:ext cx="98755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paid production source (OAG/FlightAware) — AeroDataBox + OpenSky tiebreaker already live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731520" y="2258568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F7B7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31520" y="22585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417320" y="2231136"/>
            <a:ext cx="98755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to TLR, Opus, ROC for full multi-source disruption confidence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731520" y="2916936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F7B7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31520" y="291693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417320" y="2889504"/>
            <a:ext cx="98755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accuracy harness — validate the 95–98% detection target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731520" y="3575304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F7B7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31520" y="357530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417320" y="3547872"/>
            <a:ext cx="98755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from Python-orchestrated to true agent-driven tool selection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731520" y="4233672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F7B7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31520" y="42336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417320" y="4206240"/>
            <a:ext cx="98755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 real PNR data access with stakeholders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731520" y="48920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F7B7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31520" y="4892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417320" y="4864608"/>
            <a:ext cx="98755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detection to a live 5-minute production schedule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3657600" cy="3657600"/>
          </a:xfrm>
          <a:prstGeom prst="ellipse">
            <a:avLst/>
          </a:prstGeom>
          <a:solidFill>
            <a:srgbClr val="4A6FA5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27432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Questions?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731520" y="35204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FlightSense — Real-Time Flight Disruption Detection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a0819fa7-4367-4500-ba88-dd630d977609}" enabled="1" method="Standard" siteId="{63ce7d59-2f3e-42cd-a8cc-be764cff5eb6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490</Words>
  <Application>Microsoft Macintosh PowerPoint</Application>
  <PresentationFormat>Widescreen</PresentationFormat>
  <Paragraphs>98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Dilara Aziz</cp:lastModifiedBy>
  <cp:revision>4</cp:revision>
  <dcterms:created xsi:type="dcterms:W3CDTF">2026-07-31T23:37:46Z</dcterms:created>
  <dcterms:modified xsi:type="dcterms:W3CDTF">2026-08-07T19:30:40Z</dcterms:modified>
</cp:coreProperties>
</file>